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D69425-DCC3-0CAA-0BDA-FE1390974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67C317-263E-C680-D327-747325A1E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35B55C-6A90-0014-A04C-A375B48B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19C0E8-9356-4C99-FABB-38D6A339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5578E5-B7ED-FCB0-26EC-6650DE87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89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8A781-45E9-FB21-09C1-FD31CF6D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3F7BE7-B191-39BE-B0B9-FE41ACDC1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1BDE60-6AC6-29C4-132E-C354A922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424533-CC2F-4B3A-B563-DF2B7D29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1A33D2-0624-DD71-284E-0DF663C2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90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43EB85-F08A-DEE1-4489-9B89F4F9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20D1E1-BBDC-BECC-BBF0-39129CFFD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8BAF65-A5E2-0647-B5F5-5D974E7E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EE96DC-8FC6-8A66-5AB0-53793773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05C86E-3745-8BB1-233A-9676B397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5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82BAA3-1C5B-8BC7-60B8-579F2B88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4A4AD5-4405-D858-9192-F31C7C493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B817DE-613C-E760-5B0A-5359AB492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7658E5-1528-F540-4221-2E0A8561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A5E056-B82A-F38A-7B86-0373900B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3198A2-FB98-8806-4737-215B59B8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09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27E97-B5F9-128F-D577-65059E82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3DF999-491E-AC4C-0E27-91EB59F1B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8DD054-8884-96B4-8734-B98DDED6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9B56C9-8643-4FDA-4B9D-0508148DA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4E9A59-6756-1BE7-9731-2C707D508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56E097-22B6-F268-ED82-60B0BF18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AF935E5-DF34-37C0-2644-12189AAC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919AF5-7900-D8AB-A563-4A1834D0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18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24359-9AD8-E140-14A3-3FC5BEB6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DB62CA-3A92-EFF3-A8A0-2089B525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22212A-8F5E-DE4E-F22C-7AF1F0CB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38AC41-5131-956D-0E95-ABE391A6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81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E1383F7-AA6B-97C3-4DC1-E746D7B1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7316A3-92E2-C212-8111-B5449851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2DF8E6-8BF6-553B-7B6B-B5606E2E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58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788F3C-2A2B-DD2A-CCA1-2F48B676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EA8A8B-B5B7-0A57-21C0-78D9E92B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AF5619-48D9-6D08-C409-500C1B617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26E65A-2793-E573-DC8B-27FFBEF6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4D3375-B395-1B8B-F346-92954452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BCBF1-DB50-64DE-2011-AFA21D3A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95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A5A9BA-FE9E-B167-EEB3-BD71BF4B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8710DAC-94BE-D673-D419-2F8898B9E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6C2283-332B-859A-FF2D-A3426FEE5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7C926C-0BF8-A7E1-06EB-E71CF2C2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45E510-EEC0-F4DD-9878-E74F47ED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B78314-D31C-FCDF-9AE4-20A0D9BA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32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6C76F9-B408-983B-FB06-1F70FB0A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BE9BD0-3007-F045-98F1-4B018C54D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1E0DF-F34A-98FD-8A6B-E5E887FC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F1BFF-B7B3-DF30-4C63-7456FA80B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141A62-6C60-1E76-0C28-5336CE14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39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64158C-793F-2A84-9F37-66985203E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9F24B4-20B0-DD27-E9B0-8BCAC2427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064E07-6C0E-856A-26D7-B0DF45DC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B55FCA-B39A-FCB7-3DB6-A03BE36A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8FDA0F-88E1-C39B-5C4F-7E329438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08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F31A95-F5BA-4CBD-244B-B1F8F208A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E45DBD-DEEF-A743-081D-DECB623E7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40A8A7-FE55-EC3F-563B-C68543230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F03-A00A-490E-9BBE-527BF4CAE80D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6B3B04-B488-242B-9CE8-6A2322FBC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21A1A3-1C56-E6D3-C05E-041DC0C76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EAFD1-278B-4C24-B0FC-82F98AD39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47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7890B-7938-E490-F10A-5D42D43CB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MangaDown</a:t>
            </a:r>
            <a:r>
              <a:rPr kumimoji="1" lang="en-US" altLang="ja-JP" dirty="0"/>
              <a:t> </a:t>
            </a:r>
            <a:r>
              <a:rPr kumimoji="1" lang="ja-JP" altLang="en-US" dirty="0"/>
              <a:t>画面設計書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758551-C5C4-3DB4-D024-F8FE21D7A1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2026.7.4  </a:t>
            </a:r>
            <a:r>
              <a:rPr kumimoji="1" lang="en-US" altLang="ja-JP" dirty="0" err="1"/>
              <a:t>ver</a:t>
            </a:r>
            <a:r>
              <a:rPr kumimoji="1" lang="en-US" altLang="ja-JP" dirty="0"/>
              <a:t> 1.0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90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BE27AD-AA97-FC39-8C6E-D2BC5C2C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注意事項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2BC267-8F1A-4B28-D070-05103F985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この文書はあくまで画面レイアウトのイメージを表したものであり、中の文章などはこの通りではない。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kumimoji="1" lang="ja-JP" altLang="en-US" dirty="0"/>
              <a:t>本文書では、以下の２種類のページがある。</a:t>
            </a:r>
            <a:br>
              <a:rPr kumimoji="1" lang="en-US" altLang="ja-JP" dirty="0"/>
            </a:br>
            <a:r>
              <a:rPr kumimoji="1" lang="ja-JP" altLang="en-US" dirty="0"/>
              <a:t>デザイン</a:t>
            </a:r>
            <a:r>
              <a:rPr kumimoji="1" lang="en-US" altLang="ja-JP" dirty="0"/>
              <a:t>…</a:t>
            </a:r>
            <a:r>
              <a:rPr kumimoji="1" lang="ja-JP" altLang="en-US" dirty="0"/>
              <a:t>輪郭線や色合い、フォント、背景など細かな技法を表現したイメージ図。中のデータはでたらめ。</a:t>
            </a:r>
            <a:br>
              <a:rPr kumimoji="1" lang="en-US" altLang="ja-JP" dirty="0"/>
            </a:br>
            <a:r>
              <a:rPr kumimoji="1" lang="ja-JP" altLang="en-US" dirty="0"/>
              <a:t>レイアウト</a:t>
            </a:r>
            <a:r>
              <a:rPr kumimoji="1" lang="en-US" altLang="ja-JP" dirty="0"/>
              <a:t>…</a:t>
            </a:r>
            <a:r>
              <a:rPr kumimoji="1" lang="ja-JP" altLang="en-US" dirty="0"/>
              <a:t>各要素の位置や機能など、中身ではなく大まかな枠を設定したイメージ図。線の太さやフォントなど、装飾は壊滅的。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8908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3F94-0702-0FC1-0B33-77973E56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9C4ACFE-AB08-E1FA-D114-7045968B6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999270"/>
              </p:ext>
            </p:extLst>
          </p:nvPr>
        </p:nvGraphicFramePr>
        <p:xfrm>
          <a:off x="540081" y="559245"/>
          <a:ext cx="6871371" cy="7315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322153">
                  <a:extLst>
                    <a:ext uri="{9D8B030D-6E8A-4147-A177-3AD203B41FA5}">
                      <a16:colId xmlns:a16="http://schemas.microsoft.com/office/drawing/2014/main" val="3177378116"/>
                    </a:ext>
                  </a:extLst>
                </a:gridCol>
                <a:gridCol w="2113532">
                  <a:extLst>
                    <a:ext uri="{9D8B030D-6E8A-4147-A177-3AD203B41FA5}">
                      <a16:colId xmlns:a16="http://schemas.microsoft.com/office/drawing/2014/main" val="1424266107"/>
                    </a:ext>
                  </a:extLst>
                </a:gridCol>
                <a:gridCol w="1717843">
                  <a:extLst>
                    <a:ext uri="{9D8B030D-6E8A-4147-A177-3AD203B41FA5}">
                      <a16:colId xmlns:a16="http://schemas.microsoft.com/office/drawing/2014/main" val="2684875749"/>
                    </a:ext>
                  </a:extLst>
                </a:gridCol>
                <a:gridCol w="1717843">
                  <a:extLst>
                    <a:ext uri="{9D8B030D-6E8A-4147-A177-3AD203B41FA5}">
                      <a16:colId xmlns:a16="http://schemas.microsoft.com/office/drawing/2014/main" val="4232297979"/>
                    </a:ext>
                  </a:extLst>
                </a:gridCol>
              </a:tblGrid>
              <a:tr h="32997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画面番号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種別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41297"/>
                  </a:ext>
                </a:extLst>
              </a:tr>
              <a:tr h="32997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01-1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トップページ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レイアウト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37392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BADFFB-34FC-5C00-8765-5900685C3E2D}"/>
              </a:ext>
            </a:extLst>
          </p:cNvPr>
          <p:cNvSpPr/>
          <p:nvPr/>
        </p:nvSpPr>
        <p:spPr>
          <a:xfrm>
            <a:off x="1018674" y="1486124"/>
            <a:ext cx="10154652" cy="48768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B69BF50-760E-A117-F2E9-9254CB0E33A3}"/>
              </a:ext>
            </a:extLst>
          </p:cNvPr>
          <p:cNvCxnSpPr/>
          <p:nvPr/>
        </p:nvCxnSpPr>
        <p:spPr>
          <a:xfrm flipV="1">
            <a:off x="1018674" y="2981826"/>
            <a:ext cx="10154652" cy="894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9CBE822-5A5E-5CE8-E8B4-440BD4288D0D}"/>
              </a:ext>
            </a:extLst>
          </p:cNvPr>
          <p:cNvSpPr txBox="1"/>
          <p:nvPr/>
        </p:nvSpPr>
        <p:spPr>
          <a:xfrm>
            <a:off x="2534653" y="1854078"/>
            <a:ext cx="3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b="1" dirty="0" err="1"/>
              <a:t>MangaDown</a:t>
            </a:r>
            <a:endParaRPr kumimoji="1" lang="ja-JP" altLang="en-US" sz="4400" b="1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1ABEA23-0013-DB49-58EA-73C25CB8E834}"/>
              </a:ext>
            </a:extLst>
          </p:cNvPr>
          <p:cNvSpPr/>
          <p:nvPr/>
        </p:nvSpPr>
        <p:spPr>
          <a:xfrm>
            <a:off x="9633283" y="1750518"/>
            <a:ext cx="1379622" cy="488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漫画を作成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3CECDD9-890C-6480-D481-C480AA8E8992}"/>
              </a:ext>
            </a:extLst>
          </p:cNvPr>
          <p:cNvCxnSpPr>
            <a:cxnSpLocks/>
          </p:cNvCxnSpPr>
          <p:nvPr/>
        </p:nvCxnSpPr>
        <p:spPr>
          <a:xfrm>
            <a:off x="5277853" y="3428999"/>
            <a:ext cx="1106905" cy="2933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F272751-A92A-CFE5-7E0D-DC2D60E65118}"/>
              </a:ext>
            </a:extLst>
          </p:cNvPr>
          <p:cNvSpPr txBox="1"/>
          <p:nvPr/>
        </p:nvSpPr>
        <p:spPr>
          <a:xfrm>
            <a:off x="1359570" y="4019035"/>
            <a:ext cx="2073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Why</a:t>
            </a:r>
          </a:p>
          <a:p>
            <a:r>
              <a:rPr kumimoji="1" lang="en-US" altLang="ja-JP" sz="3600" b="1" dirty="0"/>
              <a:t>Manga?</a:t>
            </a:r>
            <a:endParaRPr kumimoji="1" lang="ja-JP" altLang="en-US" sz="3600" b="1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F602F01-2635-3C08-A873-6A92597EF729}"/>
              </a:ext>
            </a:extLst>
          </p:cNvPr>
          <p:cNvSpPr txBox="1"/>
          <p:nvPr/>
        </p:nvSpPr>
        <p:spPr>
          <a:xfrm>
            <a:off x="6384758" y="3482174"/>
            <a:ext cx="478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Create your own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0849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C893B-5649-8364-F081-BAF0D321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2B258E-7F9D-42BD-B952-175660CB7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822" y="280987"/>
            <a:ext cx="2981325" cy="629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5CAAD83F-AAE2-054E-029A-9F733EC48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03285"/>
              </p:ext>
            </p:extLst>
          </p:nvPr>
        </p:nvGraphicFramePr>
        <p:xfrm>
          <a:off x="556124" y="607371"/>
          <a:ext cx="5780508" cy="1187742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12255">
                  <a:extLst>
                    <a:ext uri="{9D8B030D-6E8A-4147-A177-3AD203B41FA5}">
                      <a16:colId xmlns:a16="http://schemas.microsoft.com/office/drawing/2014/main" val="3177378116"/>
                    </a:ext>
                  </a:extLst>
                </a:gridCol>
                <a:gridCol w="1777999">
                  <a:extLst>
                    <a:ext uri="{9D8B030D-6E8A-4147-A177-3AD203B41FA5}">
                      <a16:colId xmlns:a16="http://schemas.microsoft.com/office/drawing/2014/main" val="1424266107"/>
                    </a:ext>
                  </a:extLst>
                </a:gridCol>
                <a:gridCol w="1445127">
                  <a:extLst>
                    <a:ext uri="{9D8B030D-6E8A-4147-A177-3AD203B41FA5}">
                      <a16:colId xmlns:a16="http://schemas.microsoft.com/office/drawing/2014/main" val="2684875749"/>
                    </a:ext>
                  </a:extLst>
                </a:gridCol>
                <a:gridCol w="1445127">
                  <a:extLst>
                    <a:ext uri="{9D8B030D-6E8A-4147-A177-3AD203B41FA5}">
                      <a16:colId xmlns:a16="http://schemas.microsoft.com/office/drawing/2014/main" val="4232297979"/>
                    </a:ext>
                  </a:extLst>
                </a:gridCol>
              </a:tblGrid>
              <a:tr h="54766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画面番号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種別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41297"/>
                  </a:ext>
                </a:extLst>
              </a:tr>
              <a:tr h="54766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01-2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トップページ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デザイン、レイアウト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3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79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85DE-27E5-75C3-A8EA-BABE9810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C189601-FC20-2849-4515-822A5597B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822" y="280987"/>
            <a:ext cx="2981325" cy="629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6249114-7486-346C-89CB-D051EB8D6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13993"/>
              </p:ext>
            </p:extLst>
          </p:nvPr>
        </p:nvGraphicFramePr>
        <p:xfrm>
          <a:off x="556124" y="607371"/>
          <a:ext cx="5780508" cy="109532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12255">
                  <a:extLst>
                    <a:ext uri="{9D8B030D-6E8A-4147-A177-3AD203B41FA5}">
                      <a16:colId xmlns:a16="http://schemas.microsoft.com/office/drawing/2014/main" val="3177378116"/>
                    </a:ext>
                  </a:extLst>
                </a:gridCol>
                <a:gridCol w="1777999">
                  <a:extLst>
                    <a:ext uri="{9D8B030D-6E8A-4147-A177-3AD203B41FA5}">
                      <a16:colId xmlns:a16="http://schemas.microsoft.com/office/drawing/2014/main" val="1424266107"/>
                    </a:ext>
                  </a:extLst>
                </a:gridCol>
                <a:gridCol w="1445127">
                  <a:extLst>
                    <a:ext uri="{9D8B030D-6E8A-4147-A177-3AD203B41FA5}">
                      <a16:colId xmlns:a16="http://schemas.microsoft.com/office/drawing/2014/main" val="2684875749"/>
                    </a:ext>
                  </a:extLst>
                </a:gridCol>
                <a:gridCol w="1445127">
                  <a:extLst>
                    <a:ext uri="{9D8B030D-6E8A-4147-A177-3AD203B41FA5}">
                      <a16:colId xmlns:a16="http://schemas.microsoft.com/office/drawing/2014/main" val="4232297979"/>
                    </a:ext>
                  </a:extLst>
                </a:gridCol>
              </a:tblGrid>
              <a:tr h="547662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画面番号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種別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41297"/>
                  </a:ext>
                </a:extLst>
              </a:tr>
              <a:tr h="547662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エディタ画面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レイアウト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3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60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147</Words>
  <Application>Microsoft Office PowerPoint</Application>
  <PresentationFormat>ワイド画面</PresentationFormat>
  <Paragraphs>34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MangaDown 画面設計書</vt:lpstr>
      <vt:lpstr>注意事項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撫子 関口</dc:creator>
  <cp:lastModifiedBy>撫子 関口</cp:lastModifiedBy>
  <cp:revision>1</cp:revision>
  <dcterms:created xsi:type="dcterms:W3CDTF">2026-07-04T06:45:03Z</dcterms:created>
  <dcterms:modified xsi:type="dcterms:W3CDTF">2026-07-04T08:06:53Z</dcterms:modified>
</cp:coreProperties>
</file>